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063240"/>
            <a:ext cx="12191695" cy="381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965960"/>
            <a:ext cx="103327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  <a:latin typeface="Calibri"/>
              </a:rPr>
              <a:t>TBX Finance Assistant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697480"/>
            <a:ext cx="10332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i="1">
                <a:solidFill>
                  <a:srgbClr val="38BDF8"/>
                </a:solidFill>
                <a:latin typeface="Calibri"/>
              </a:rPr>
              <a:t>A Conversational AI Assistant That Actually Understands Your Financial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33756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B8C2D6"/>
                </a:solidFill>
                <a:latin typeface="Calibri"/>
              </a:rPr>
              <a:t>BVP Tech Catalyst Hackathon — Problem: Build a Finance Assistant That Actually Understands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94360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6B7280"/>
                </a:solidFill>
                <a:latin typeface="Calibri"/>
              </a:rPr>
              <a:t>Grounded SQL generation · Qwen2.5-Coder-1.5B-Instruct · Execution-verified accuracy · AES-256 encryption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38BDF8"/>
                </a:solidFill>
                <a:latin typeface="Calibri"/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1155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What We Built, In One Slide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32688"/>
            <a:ext cx="1188720" cy="381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800"/>
              </a:spcAft>
            </a:pPr>
            <a:r>
              <a:rPr b="1" sz="1600">
                <a:solidFill>
                  <a:srgbClr val="0EA5E9"/>
                </a:solidFill>
                <a:latin typeface="Calibri"/>
              </a:rPr>
              <a:t>▸ The ask: </a:t>
            </a:r>
            <a:r>
              <a:rPr sz="1600">
                <a:solidFill>
                  <a:srgbClr val="111827"/>
                </a:solidFill>
                <a:latin typeface="Calibri"/>
              </a:rPr>
              <a:t>A conversational assistant that answers plain-language questions about financial data (bank/account/transaction) with numbers that are always computed by real SQL against real data — never guessed by the model.</a:t>
            </a:r>
          </a:p>
          <a:p>
            <a:pPr>
              <a:lnSpc>
                <a:spcPct val="105000"/>
              </a:lnSpc>
              <a:spcAft>
                <a:spcPts val="1800"/>
              </a:spcAft>
            </a:pPr>
            <a:r>
              <a:rPr b="1" sz="1600">
                <a:solidFill>
                  <a:srgbClr val="0EA5E9"/>
                </a:solidFill>
                <a:latin typeface="Calibri"/>
              </a:rPr>
              <a:t>▸ Model: </a:t>
            </a:r>
            <a:r>
              <a:rPr sz="1600">
                <a:solidFill>
                  <a:srgbClr val="111827"/>
                </a:solidFill>
                <a:latin typeface="Calibri"/>
              </a:rPr>
              <a:t>Qwen2.5-Coder-1.5B-Instruct — 1.5B parameters, ~13x under the 20B cap — served via an OpenAI-compatible endpoint (local Ollama now, vLLM on GCP for production).</a:t>
            </a:r>
          </a:p>
          <a:p>
            <a:pPr>
              <a:lnSpc>
                <a:spcPct val="105000"/>
              </a:lnSpc>
              <a:spcAft>
                <a:spcPts val="1800"/>
              </a:spcAft>
            </a:pPr>
            <a:r>
              <a:rPr b="1" sz="1600">
                <a:solidFill>
                  <a:srgbClr val="0EA5E9"/>
                </a:solidFill>
                <a:latin typeface="Calibri"/>
              </a:rPr>
              <a:t>▸ Grounding: </a:t>
            </a:r>
            <a:r>
              <a:rPr sz="1600">
                <a:solidFill>
                  <a:srgbClr val="111827"/>
                </a:solidFill>
                <a:latin typeface="Calibri"/>
              </a:rPr>
              <a:t>Every answer traces back to an executed SQL query shown to the user, alongside a confidence score, and an honest “I couldn't find that” when data doesn't support an answer.</a:t>
            </a:r>
          </a:p>
          <a:p>
            <a:pPr>
              <a:lnSpc>
                <a:spcPct val="105000"/>
              </a:lnSpc>
              <a:spcAft>
                <a:spcPts val="1800"/>
              </a:spcAft>
            </a:pPr>
            <a:r>
              <a:rPr b="1" sz="1600">
                <a:solidFill>
                  <a:srgbClr val="0EA5E9"/>
                </a:solidFill>
                <a:latin typeface="Calibri"/>
              </a:rPr>
              <a:t>▸ Accuracy: </a:t>
            </a:r>
            <a:r>
              <a:rPr sz="1600">
                <a:solidFill>
                  <a:srgbClr val="111827"/>
                </a:solidFill>
                <a:latin typeface="Calibri"/>
              </a:rPr>
              <a:t>87–94% execution-verified accuracy on a 15-question benchmark (small + 500K-row datasets), up from a 65–75% single-shot baseline — measured, not estimated.</a:t>
            </a:r>
          </a:p>
          <a:p>
            <a:pPr>
              <a:lnSpc>
                <a:spcPct val="105000"/>
              </a:lnSpc>
              <a:spcAft>
                <a:spcPts val="1800"/>
              </a:spcAft>
            </a:pPr>
            <a:r>
              <a:rPr b="1" sz="1600">
                <a:solidFill>
                  <a:srgbClr val="0EA5E9"/>
                </a:solidFill>
                <a:latin typeface="Calibri"/>
              </a:rPr>
              <a:t>▸ Security: </a:t>
            </a:r>
            <a:r>
              <a:rPr sz="1600">
                <a:solidFill>
                  <a:srgbClr val="111827"/>
                </a:solidFill>
                <a:latin typeface="Calibri"/>
              </a:rPr>
              <a:t>account_number and utr_number are encrypted at rest (AES-256-GCM) and decrypted at read time with ~3μs/row overhead — not the bottleneck by 3 orders of magnitude vs. the LLM call.</a:t>
            </a:r>
          </a:p>
          <a:p>
            <a:pPr>
              <a:lnSpc>
                <a:spcPct val="105000"/>
              </a:lnSpc>
              <a:spcAft>
                <a:spcPts val="1800"/>
              </a:spcAft>
            </a:pPr>
            <a:r>
              <a:rPr b="1" sz="1600">
                <a:solidFill>
                  <a:srgbClr val="0EA5E9"/>
                </a:solidFill>
                <a:latin typeface="Calibri"/>
              </a:rPr>
              <a:t>▸ Scale-ready: </a:t>
            </a:r>
            <a:r>
              <a:rPr sz="1600">
                <a:solidFill>
                  <a:srgbClr val="111827"/>
                </a:solidFill>
                <a:latin typeface="Calibri"/>
              </a:rPr>
              <a:t>Live-tested against a real local MySQL 8.0 instance and a 500K-transaction dataset, with hard guards against pathological queries — ready for the 20M-row judge database.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6539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TBX Finance Assistant — BVP Tech Catalyst Hackathon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6539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38BDF8"/>
                </a:solidFill>
                <a:latin typeface="Calibr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1155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Why This Matters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32688"/>
            <a:ext cx="1188720" cy="381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1">
                <a:solidFill>
                  <a:srgbClr val="111827"/>
                </a:solidFill>
                <a:latin typeface="Calibri"/>
              </a:rPr>
              <a:t>Finance teams rely on dashboards and static reports to answer routine questions about their own data. A wrong or invented number here isn't a minor bug — it's a liability that undermines reconciliation, audits, and trust.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54864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500">
                <a:solidFill>
                  <a:srgbClr val="111827"/>
                </a:solidFill>
                <a:latin typeface="Calibri"/>
              </a:rPr>
              <a:t>▸ Natural language in, filters/date-ranges/intent correctly interpreted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500">
                <a:solidFill>
                  <a:srgbClr val="111827"/>
                </a:solidFill>
                <a:latin typeface="Calibri"/>
              </a:rPr>
              <a:t>▸ Grounded retrieval — every answer from an executed query, not model memory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500">
                <a:solidFill>
                  <a:srgbClr val="111827"/>
                </a:solidFill>
                <a:latin typeface="Calibri"/>
              </a:rPr>
              <a:t>▸ Accurate computation — SQL aggregates before the LLM ever explains a number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500">
                <a:solidFill>
                  <a:srgbClr val="111827"/>
                </a:solidFill>
                <a:latin typeface="Calibri"/>
              </a:rPr>
              <a:t>▸ Verifiable answers — paired with the underlying SQL/records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500">
                <a:solidFill>
                  <a:srgbClr val="111827"/>
                </a:solidFill>
                <a:latin typeface="Calibri"/>
              </a:rPr>
              <a:t>▸ Hallucination guardrails — say “I don't know” rather than invent a figure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500">
                <a:solidFill>
                  <a:srgbClr val="111827"/>
                </a:solidFill>
                <a:latin typeface="Calibri"/>
              </a:rPr>
              <a:t>▸ Lightweight model — explicitly scored, not a suggestion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500">
                <a:solidFill>
                  <a:srgbClr val="111827"/>
                </a:solidFill>
                <a:latin typeface="Calibri"/>
              </a:rPr>
              <a:t>▸ Multi-turn conversation without repeating context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500">
                <a:solidFill>
                  <a:srgbClr val="111827"/>
                </a:solidFill>
                <a:latin typeface="Calibri"/>
              </a:rPr>
              <a:t>▸ Explainability — show the SQL and the reasoning trace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2286000"/>
            <a:ext cx="5212080" cy="393192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2423160"/>
            <a:ext cx="4663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0F172A"/>
                </a:solidFill>
                <a:latin typeface="Calibri"/>
              </a:rPr>
              <a:t>Evaluation Weights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595360" y="2880360"/>
            <a:ext cx="3108960" cy="292608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2862072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111827"/>
                </a:solidFill>
                <a:latin typeface="Calibri"/>
              </a:rPr>
              <a:t>Accuracy &amp; Grounding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92840" y="2862072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Calibri"/>
              </a:rPr>
              <a:t>30%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595360" y="3337560"/>
            <a:ext cx="2072640" cy="292608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3319272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111827"/>
                </a:solidFill>
                <a:latin typeface="Calibri"/>
              </a:rPr>
              <a:t>Model Efficiency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92840" y="3319272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Calibri"/>
              </a:rPr>
              <a:t>20%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95360" y="3794760"/>
            <a:ext cx="1554480" cy="292608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3776472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111827"/>
                </a:solidFill>
                <a:latin typeface="Calibri"/>
              </a:rPr>
              <a:t>NL Understanding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92840" y="3776472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Calibri"/>
              </a:rPr>
              <a:t>15%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595360" y="4251960"/>
            <a:ext cx="1554480" cy="292608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0" y="4233672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111827"/>
                </a:solidFill>
                <a:latin typeface="Calibri"/>
              </a:rPr>
              <a:t>Functionality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92840" y="4233672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Calibri"/>
              </a:rPr>
              <a:t>15%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595360" y="4709160"/>
            <a:ext cx="1036320" cy="292608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5120" y="4690872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111827"/>
                </a:solidFill>
                <a:latin typeface="Calibri"/>
              </a:rPr>
              <a:t>User Experience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92840" y="4690872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Calibri"/>
              </a:rPr>
              <a:t>10%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595360" y="5166360"/>
            <a:ext cx="518160" cy="292608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75120" y="5148072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111827"/>
                </a:solidFill>
                <a:latin typeface="Calibri"/>
              </a:rPr>
              <a:t>Presentation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5148072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Calibri"/>
              </a:rPr>
              <a:t>5%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595360" y="5623560"/>
            <a:ext cx="518160" cy="292608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75120" y="5605272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111827"/>
                </a:solidFill>
                <a:latin typeface="Calibri"/>
              </a:rPr>
              <a:t>Business Impact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92840" y="5605272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Calibri"/>
              </a:rPr>
              <a:t>5%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75120" y="6126480"/>
            <a:ext cx="4663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1">
                <a:solidFill>
                  <a:srgbClr val="6B7280"/>
                </a:solidFill>
                <a:latin typeface="Calibri"/>
              </a:rPr>
              <a:t>Accuracy/grounding + model efficiency = 50% of the score — our two priorities.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656539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TBX Finance Assistant — BVP Tech Catalyst Hackathon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47120" y="656539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38BDF8"/>
                </a:solidFill>
                <a:latin typeface="Calibr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1155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Hard Constraints We Designed Around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32688"/>
            <a:ext cx="1188720" cy="381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2697480" cy="3840480"/>
          </a:xfrm>
          <a:prstGeom prst="rect">
            <a:avLst/>
          </a:prstGeom>
          <a:solidFill>
            <a:srgbClr val="1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463040"/>
            <a:ext cx="2697480" cy="73152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737360"/>
            <a:ext cx="23317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≤ 20B parameters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14600"/>
            <a:ext cx="2331720" cy="2651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CBD5E1"/>
                </a:solidFill>
                <a:latin typeface="Calibri"/>
              </a:rPr>
              <a:t>Qwen2.5-Coder-1.5B is ~13x under budget — accuracy work targets
the model, not raw scale.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10712" y="1463040"/>
            <a:ext cx="2697480" cy="3840480"/>
          </a:xfrm>
          <a:prstGeom prst="rect">
            <a:avLst/>
          </a:prstGeom>
          <a:solidFill>
            <a:srgbClr val="1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10712" y="1463040"/>
            <a:ext cx="2697480" cy="73152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93592" y="1737360"/>
            <a:ext cx="23317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≤ 20M rows (final test)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93592" y="2514600"/>
            <a:ext cx="2331720" cy="2651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CBD5E1"/>
                </a:solidFill>
                <a:latin typeface="Calibri"/>
              </a:rPr>
              <a:t>Local testing: 10 rows (hand-verified) → 500K transactions.
MySQL ingestion built and verified for the real judge DB.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72784" y="1463040"/>
            <a:ext cx="2697480" cy="3840480"/>
          </a:xfrm>
          <a:prstGeom prst="rect">
            <a:avLst/>
          </a:prstGeom>
          <a:solidFill>
            <a:srgbClr val="1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72784" y="1463040"/>
            <a:ext cx="2697480" cy="73152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55664" y="1737360"/>
            <a:ext cx="23317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Single schema only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55664" y="2514600"/>
            <a:ext cx="2331720" cy="2651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CBD5E1"/>
                </a:solidFill>
                <a:latin typeface="Calibri"/>
              </a:rPr>
              <a:t>bank / account / transaction, 3 tables. No reconciliation-status
data exists — out of scope, not asked for.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34856" y="1463040"/>
            <a:ext cx="2697480" cy="3840480"/>
          </a:xfrm>
          <a:prstGeom prst="rect">
            <a:avLst/>
          </a:prstGeom>
          <a:solidFill>
            <a:srgbClr val="1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34856" y="1463040"/>
            <a:ext cx="2697480" cy="73152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17736" y="1737360"/>
            <a:ext cx="23317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No fabricated figures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17736" y="2514600"/>
            <a:ext cx="2331720" cy="2651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CBD5E1"/>
                </a:solidFill>
                <a:latin typeface="Calibri"/>
              </a:rPr>
              <a:t>Every number comes from an executed, validated query.
Execution-feedback repair, never a blind retry.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56539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TBX Finance Assistant — BVP Tech Catalyst Hackathon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47120" y="656539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38BDF8"/>
                </a:solidFill>
                <a:latin typeface="Calibri"/>
              </a:rPr>
              <a:t>SOLUTION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1155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Prompt-to-SQL, Not Record Chunking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32688"/>
            <a:ext cx="1188720" cy="381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11064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1">
                <a:solidFill>
                  <a:srgbClr val="6B7280"/>
                </a:solidFill>
                <a:latin typeface="Calibri"/>
              </a:rPr>
              <a:t>The model never sees raw records and never computes an answer itself. It writes SQL; the database computes; the model explains.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965960"/>
            <a:ext cx="457200" cy="4572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984248"/>
            <a:ext cx="457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 i="0">
                <a:solidFill>
                  <a:srgbClr val="0F172A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938528"/>
            <a:ext cx="2103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  <a:latin typeface="Calibri"/>
              </a:rPr>
              <a:t>Classify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1938528"/>
            <a:ext cx="8229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111827"/>
                </a:solidFill>
                <a:latin typeface="Calibri"/>
              </a:rPr>
              <a:t>Intent, entities, filters, confidence — structured JSON output, guaranteed valid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560320"/>
            <a:ext cx="457200" cy="4572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578608"/>
            <a:ext cx="457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 i="0">
                <a:solidFill>
                  <a:srgbClr val="0F172A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532888"/>
            <a:ext cx="2103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  <a:latin typeface="Calibri"/>
              </a:rPr>
              <a:t>Cache check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2532888"/>
            <a:ext cx="8229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111827"/>
                </a:solidFill>
                <a:latin typeface="Calibri"/>
              </a:rPr>
              <a:t>Redis: has an equivalent question already been verified? Skip generation if so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154680"/>
            <a:ext cx="457200" cy="4572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172968"/>
            <a:ext cx="457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 i="0">
                <a:solidFill>
                  <a:srgbClr val="0F172A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3127248"/>
            <a:ext cx="2103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  <a:latin typeface="Calibri"/>
              </a:rPr>
              <a:t>Generate SQL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0" y="3127248"/>
            <a:ext cx="8229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111827"/>
                </a:solidFill>
                <a:latin typeface="Calibri"/>
              </a:rPr>
              <a:t>3 candidates, concurrently, few-shot + entity/bank-code aware prompting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749040"/>
            <a:ext cx="457200" cy="4572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3767328"/>
            <a:ext cx="457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 i="0">
                <a:solidFill>
                  <a:srgbClr val="0F172A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3721608"/>
            <a:ext cx="2103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  <a:latin typeface="Calibri"/>
              </a:rPr>
              <a:t>Validate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83280" y="3721608"/>
            <a:ext cx="8229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111827"/>
                </a:solidFill>
                <a:latin typeface="Calibri"/>
              </a:rPr>
              <a:t>Static checks: table allowlist, dangerous keywords, join-cost, encrypted-column guard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343400"/>
            <a:ext cx="457200" cy="4572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4361688"/>
            <a:ext cx="457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 i="0">
                <a:solidFill>
                  <a:srgbClr val="0F172A"/>
                </a:solidFill>
                <a:latin typeface="Calibr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4315968"/>
            <a:ext cx="2103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  <a:latin typeface="Calibri"/>
              </a:rPr>
              <a:t>Execute + vote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83280" y="4315968"/>
            <a:ext cx="8229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111827"/>
                </a:solidFill>
                <a:latin typeface="Calibri"/>
              </a:rPr>
              <a:t>Majority vote on the executed result across candidates — not the SQL text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4937760"/>
            <a:ext cx="457200" cy="4572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4956048"/>
            <a:ext cx="457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 i="0">
                <a:solidFill>
                  <a:srgbClr val="0F172A"/>
                </a:solidFill>
                <a:latin typeface="Calibri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88720" y="4910328"/>
            <a:ext cx="2103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  <a:latin typeface="Calibri"/>
              </a:rPr>
              <a:t>Repair if needed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80" y="4910328"/>
            <a:ext cx="8229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111827"/>
                </a:solidFill>
                <a:latin typeface="Calibri"/>
              </a:rPr>
              <a:t>One bounded retry, fed the real DB error — not a blind self-review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5532120"/>
            <a:ext cx="457200" cy="4572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5550408"/>
            <a:ext cx="457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 i="0">
                <a:solidFill>
                  <a:srgbClr val="0F172A"/>
                </a:solidFill>
                <a:latin typeface="Calibri"/>
              </a:rPr>
              <a:t>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88720" y="5504688"/>
            <a:ext cx="2103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  <a:latin typeface="Calibri"/>
              </a:rPr>
              <a:t>Decrypt + respond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83280" y="5504688"/>
            <a:ext cx="8229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111827"/>
                </a:solidFill>
                <a:latin typeface="Calibri"/>
              </a:rPr>
              <a:t>Sensitive columns decrypted on the final result set; confidence + SQL shown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656539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TBX Finance Assistant — BVP Tech Catalyst Hackathon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247120" y="656539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38BDF8"/>
                </a:solidFill>
                <a:latin typeface="Calibri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1155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End-to-End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32688"/>
            <a:ext cx="1188720" cy="381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65760" y="1234440"/>
            <a:ext cx="1554480" cy="502920"/>
          </a:xfrm>
          <a:prstGeom prst="roundRect">
            <a:avLst/>
          </a:prstGeom>
          <a:solidFill>
            <a:srgbClr val="0F172A"/>
          </a:solidFill>
          <a:ln w="15875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000" rIns="45000" tIns="20000" bIns="200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User question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0" y="1234440"/>
            <a:ext cx="1737360" cy="502920"/>
          </a:xfrm>
          <a:prstGeom prst="roundRect">
            <a:avLst/>
          </a:prstGeom>
          <a:solidFill>
            <a:srgbClr val="1E2A47"/>
          </a:solidFill>
          <a:ln w="15875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000" rIns="45000" tIns="20000" bIns="20000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Classify
(structured JSON)</a:t>
            </a:r>
          </a:p>
        </p:txBody>
      </p:sp>
      <p:sp>
        <p:nvSpPr>
          <p:cNvPr id="8" name="Diamond 7"/>
          <p:cNvSpPr/>
          <p:nvPr/>
        </p:nvSpPr>
        <p:spPr>
          <a:xfrm>
            <a:off x="4389120" y="1234440"/>
            <a:ext cx="1737360" cy="640080"/>
          </a:xfrm>
          <a:prstGeom prst="diamond">
            <a:avLst/>
          </a:prstGeom>
          <a:solidFill>
            <a:srgbClr val="F59E0B"/>
          </a:solidFill>
          <a:ln w="15875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000" rIns="45000" tIns="20000" bIns="20000"/>
          <a:lstStyle/>
          <a:p>
            <a:pPr algn="ctr"/>
            <a:r>
              <a:rPr sz="1050" b="1">
                <a:solidFill>
                  <a:srgbClr val="0F172A"/>
                </a:solidFill>
                <a:latin typeface="Calibri"/>
              </a:rPr>
              <a:t>Confidence
&lt; 0.6 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320040"/>
            <a:ext cx="1828800" cy="502920"/>
          </a:xfrm>
          <a:prstGeom prst="roundRect">
            <a:avLst/>
          </a:prstGeom>
          <a:solidFill>
            <a:srgbClr val="9C2727"/>
          </a:solidFill>
          <a:ln w="15875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000" rIns="45000" tIns="20000" bIns="2000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Ask clarifying
question</a:t>
            </a:r>
          </a:p>
        </p:txBody>
      </p:sp>
      <p:sp>
        <p:nvSpPr>
          <p:cNvPr id="10" name="Diamond 9"/>
          <p:cNvSpPr/>
          <p:nvPr/>
        </p:nvSpPr>
        <p:spPr>
          <a:xfrm>
            <a:off x="6537960" y="1234440"/>
            <a:ext cx="1828800" cy="640080"/>
          </a:xfrm>
          <a:prstGeom prst="diamond">
            <a:avLst/>
          </a:prstGeom>
          <a:solidFill>
            <a:srgbClr val="22C55E"/>
          </a:solidFill>
          <a:ln w="15875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000" rIns="45000" tIns="20000" bIns="20000"/>
          <a:lstStyle/>
          <a:p>
            <a:pPr algn="ctr"/>
            <a:r>
              <a:rPr sz="1000" b="1">
                <a:solidFill>
                  <a:srgbClr val="0F172A"/>
                </a:solidFill>
                <a:latin typeface="Calibri"/>
              </a:rPr>
              <a:t>Verified-query
cache hit? (Redis)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23960" y="1234440"/>
            <a:ext cx="2103120" cy="640080"/>
          </a:xfrm>
          <a:prstGeom prst="roundRect">
            <a:avLst/>
          </a:prstGeom>
          <a:solidFill>
            <a:srgbClr val="1E2A47"/>
          </a:solidFill>
          <a:ln w="15875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000" rIns="45000" tIns="20000" bIns="2000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SQL generation
N=3 candidates, concurrent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920240" y="1481328"/>
            <a:ext cx="365760" cy="0"/>
          </a:xfrm>
          <a:prstGeom prst="line">
            <a:avLst/>
          </a:prstGeom>
          <a:ln w="1905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023360" y="1481328"/>
            <a:ext cx="365760" cy="0"/>
          </a:xfrm>
          <a:prstGeom prst="line">
            <a:avLst/>
          </a:prstGeom>
          <a:ln w="1905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5257800" y="822960"/>
            <a:ext cx="0" cy="411480"/>
          </a:xfrm>
          <a:prstGeom prst="line">
            <a:avLst/>
          </a:prstGeom>
          <a:ln w="19050">
            <a:solidFill>
              <a:srgbClr val="EF444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126480" y="1554480"/>
            <a:ext cx="411480" cy="0"/>
          </a:xfrm>
          <a:prstGeom prst="line">
            <a:avLst/>
          </a:prstGeom>
          <a:ln w="1905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366760" y="1554480"/>
            <a:ext cx="457200" cy="0"/>
          </a:xfrm>
          <a:prstGeom prst="line">
            <a:avLst/>
          </a:prstGeom>
          <a:ln w="1905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8823960" y="2148840"/>
            <a:ext cx="2103120" cy="548640"/>
          </a:xfrm>
          <a:prstGeom prst="roundRect">
            <a:avLst/>
          </a:prstGeom>
          <a:solidFill>
            <a:srgbClr val="1E2A47"/>
          </a:solidFill>
          <a:ln w="15875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000" rIns="45000" tIns="20000" bIns="20000"/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Static validation
(join-cost, encrypted-col guard)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875520" y="1874519"/>
            <a:ext cx="0" cy="274321"/>
          </a:xfrm>
          <a:prstGeom prst="line">
            <a:avLst/>
          </a:prstGeom>
          <a:ln w="1905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8823960" y="2971800"/>
            <a:ext cx="2103120" cy="548640"/>
          </a:xfrm>
          <a:prstGeom prst="roundRect">
            <a:avLst/>
          </a:prstGeom>
          <a:solidFill>
            <a:srgbClr val="1E2A47"/>
          </a:solidFill>
          <a:ln w="15875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000" rIns="45000" tIns="20000" bIns="20000"/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Execute + majority vote
(on real result, not SQL text)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875520" y="2697480"/>
            <a:ext cx="0" cy="274320"/>
          </a:xfrm>
          <a:prstGeom prst="line">
            <a:avLst/>
          </a:prstGeom>
          <a:ln w="1905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Diamond 20"/>
          <p:cNvSpPr/>
          <p:nvPr/>
        </p:nvSpPr>
        <p:spPr>
          <a:xfrm>
            <a:off x="6537960" y="2971800"/>
            <a:ext cx="1828800" cy="548640"/>
          </a:xfrm>
          <a:prstGeom prst="diamond">
            <a:avLst/>
          </a:prstGeom>
          <a:solidFill>
            <a:srgbClr val="F59E0B"/>
          </a:solidFill>
          <a:ln w="15875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000" rIns="45000" tIns="20000" bIns="20000"/>
          <a:lstStyle/>
          <a:p>
            <a:pPr algn="ctr"/>
            <a:r>
              <a:rPr sz="1000" b="1">
                <a:solidFill>
                  <a:srgbClr val="0F172A"/>
                </a:solidFill>
                <a:latin typeface="Calibri"/>
              </a:rPr>
              <a:t>Execution error?
ONE repair retry</a:t>
            </a:r>
          </a:p>
        </p:txBody>
      </p:sp>
      <p:cxnSp>
        <p:nvCxnSpPr>
          <p:cNvPr id="22" name="Connector 21"/>
          <p:cNvCxnSpPr/>
          <p:nvPr/>
        </p:nvCxnSpPr>
        <p:spPr>
          <a:xfrm flipH="1">
            <a:off x="8366760" y="3246120"/>
            <a:ext cx="457200" cy="0"/>
          </a:xfrm>
          <a:prstGeom prst="line">
            <a:avLst/>
          </a:prstGeom>
          <a:ln w="19050">
            <a:solidFill>
              <a:srgbClr val="EF444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6995160" y="2377440"/>
            <a:ext cx="0" cy="594360"/>
          </a:xfrm>
          <a:prstGeom prst="line">
            <a:avLst/>
          </a:prstGeom>
          <a:ln w="19050">
            <a:solidFill>
              <a:srgbClr val="EF444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995160" y="2377440"/>
            <a:ext cx="1828800" cy="0"/>
          </a:xfrm>
          <a:prstGeom prst="line">
            <a:avLst/>
          </a:prstGeom>
          <a:ln w="19050">
            <a:solidFill>
              <a:srgbClr val="EF4444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4709160" y="2971800"/>
            <a:ext cx="1463040" cy="548640"/>
          </a:xfrm>
          <a:prstGeom prst="roundRect">
            <a:avLst/>
          </a:prstGeom>
          <a:solidFill>
            <a:srgbClr val="7C3AED"/>
          </a:solidFill>
          <a:ln w="15875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000" rIns="45000" tIns="20000" bIns="2000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Decrypt
(AES-256-GCM)</a:t>
            </a:r>
          </a:p>
        </p:txBody>
      </p:sp>
      <p:cxnSp>
        <p:nvCxnSpPr>
          <p:cNvPr id="26" name="Connector 25"/>
          <p:cNvCxnSpPr/>
          <p:nvPr/>
        </p:nvCxnSpPr>
        <p:spPr>
          <a:xfrm flipH="1">
            <a:off x="6172200" y="3246120"/>
            <a:ext cx="365760" cy="0"/>
          </a:xfrm>
          <a:prstGeom prst="line">
            <a:avLst/>
          </a:prstGeom>
          <a:ln w="1905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2651760" y="2971800"/>
            <a:ext cx="1691640" cy="548640"/>
          </a:xfrm>
          <a:prstGeom prst="roundRect">
            <a:avLst/>
          </a:prstGeom>
          <a:solidFill>
            <a:srgbClr val="1E2A47"/>
          </a:solidFill>
          <a:ln w="15875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000" rIns="45000" tIns="20000" bIns="20000"/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Anomaly detection
(z-score+rules+ML)</a:t>
            </a:r>
          </a:p>
        </p:txBody>
      </p:sp>
      <p:cxnSp>
        <p:nvCxnSpPr>
          <p:cNvPr id="28" name="Connector 27"/>
          <p:cNvCxnSpPr/>
          <p:nvPr/>
        </p:nvCxnSpPr>
        <p:spPr>
          <a:xfrm flipH="1">
            <a:off x="4343400" y="3246120"/>
            <a:ext cx="365760" cy="0"/>
          </a:xfrm>
          <a:prstGeom prst="line">
            <a:avLst/>
          </a:prstGeom>
          <a:ln w="1905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365760" y="2971800"/>
            <a:ext cx="1920240" cy="548640"/>
          </a:xfrm>
          <a:prstGeom prst="roundRect">
            <a:avLst/>
          </a:prstGeom>
          <a:solidFill>
            <a:srgbClr val="0F172A"/>
          </a:solidFill>
          <a:ln w="15875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000" rIns="45000" tIns="20000" bIns="2000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Response + confidence
+ grounding info</a:t>
            </a:r>
          </a:p>
        </p:txBody>
      </p:sp>
      <p:cxnSp>
        <p:nvCxnSpPr>
          <p:cNvPr id="30" name="Connector 29"/>
          <p:cNvCxnSpPr/>
          <p:nvPr/>
        </p:nvCxnSpPr>
        <p:spPr>
          <a:xfrm flipH="1">
            <a:off x="2286000" y="3246120"/>
            <a:ext cx="365760" cy="0"/>
          </a:xfrm>
          <a:prstGeom prst="line">
            <a:avLst/>
          </a:prstGeom>
          <a:ln w="1905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365760" y="3886200"/>
            <a:ext cx="1920240" cy="502920"/>
          </a:xfrm>
          <a:prstGeom prst="roundRect">
            <a:avLst/>
          </a:prstGeom>
          <a:solidFill>
            <a:srgbClr val="1E2A47"/>
          </a:solidFill>
          <a:ln w="15875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000" rIns="45000" tIns="20000" bIns="20000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CSV export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1325880" y="3520440"/>
            <a:ext cx="0" cy="365760"/>
          </a:xfrm>
          <a:prstGeom prst="line">
            <a:avLst/>
          </a:prstGeom>
          <a:ln w="1905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2651760" y="3886200"/>
            <a:ext cx="2103120" cy="502920"/>
          </a:xfrm>
          <a:prstGeom prst="roundRect">
            <a:avLst/>
          </a:prstGeom>
          <a:solidFill>
            <a:srgbClr val="22C55E"/>
          </a:solidFill>
          <a:ln w="15875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000" rIns="45000" tIns="20000" bIns="20000"/>
          <a:lstStyle/>
          <a:p>
            <a:pPr algn="ctr"/>
            <a:r>
              <a:rPr sz="950" b="1">
                <a:solidFill>
                  <a:srgbClr val="0F172A"/>
                </a:solidFill>
                <a:latin typeface="Calibri"/>
              </a:rPr>
              <a:t>Store verified SQL
(Redis, if it succeeded)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3291840" y="2971800"/>
            <a:ext cx="0" cy="914400"/>
          </a:xfrm>
          <a:prstGeom prst="line">
            <a:avLst/>
          </a:prstGeom>
          <a:ln w="19050">
            <a:solidFill>
              <a:srgbClr val="22C5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365760" y="4617720"/>
            <a:ext cx="11430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1">
                <a:solidFill>
                  <a:srgbClr val="6B7280"/>
                </a:solidFill>
                <a:latin typeface="Calibri"/>
              </a:rPr>
              <a:t>Data layer: DuckDB (CSV small/large or live MySQL, materialized). Model: Qwen2.5-Coder-1.5B via OpenAI-compatible endpoint (local Ollama / vLLM on GCP), Bedrock kept as fallback.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4983480"/>
            <a:ext cx="11430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1">
                <a:solidFill>
                  <a:srgbClr val="6B7280"/>
                </a:solidFill>
                <a:latin typeface="Calibri"/>
              </a:rPr>
              <a:t>Every query: hard-cancelled via conn.interrupt() after QUERY_TIMEOUT_SECONDS (15s default) if it runs pathologically long — found necessary the hard way (see next slides).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656539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TBX Finance Assistant — BVP Tech Catalyst Hackathon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247120" y="656539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38BDF8"/>
                </a:solidFill>
                <a:latin typeface="Calibri"/>
              </a:rPr>
              <a:t>DESIGN CHOICE #1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1155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Model Choice: Qwen2.5-Coder-1.5B-Instruct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32688"/>
            <a:ext cx="1188720" cy="381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6309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600"/>
              </a:spcAft>
            </a:pPr>
            <a:r>
              <a:rPr b="1" sz="1550">
                <a:solidFill>
                  <a:srgbClr val="0EA5E9"/>
                </a:solidFill>
                <a:latin typeface="Calibri"/>
              </a:rPr>
              <a:t>▸ What: </a:t>
            </a:r>
            <a:r>
              <a:rPr sz="1550">
                <a:solidFill>
                  <a:srgbClr val="111827"/>
                </a:solidFill>
                <a:latin typeface="Calibri"/>
              </a:rPr>
              <a:t>A coder-tuned model at 1.5B parameters — ~13x under the 20B cap.</a:t>
            </a:r>
          </a:p>
          <a:p>
            <a:pPr>
              <a:lnSpc>
                <a:spcPct val="105000"/>
              </a:lnSpc>
              <a:spcAft>
                <a:spcPts val="1600"/>
              </a:spcAft>
            </a:pPr>
            <a:r>
              <a:rPr b="1" sz="1550">
                <a:solidFill>
                  <a:srgbClr val="0EA5E9"/>
                </a:solidFill>
                <a:latin typeface="Calibri"/>
              </a:rPr>
              <a:t>▸ Why this size/type: </a:t>
            </a:r>
            <a:r>
              <a:rPr sz="1550">
                <a:solidFill>
                  <a:srgbClr val="111827"/>
                </a:solidFill>
                <a:latin typeface="Calibri"/>
              </a:rPr>
              <a:t>This task is narrow: SQL generation over a fixed 3-table schema, then explaining a computed result. Exactly where a small coder-tuned model is competitive with much larger general models — the task doesn't need open-ended reasoning.</a:t>
            </a:r>
          </a:p>
          <a:p>
            <a:pPr>
              <a:lnSpc>
                <a:spcPct val="105000"/>
              </a:lnSpc>
              <a:spcAft>
                <a:spcPts val="1600"/>
              </a:spcAft>
            </a:pPr>
            <a:r>
              <a:rPr b="1" sz="1550">
                <a:solidFill>
                  <a:srgbClr val="0EA5E9"/>
                </a:solidFill>
                <a:latin typeface="Calibri"/>
              </a:rPr>
              <a:t>▸ Serving: </a:t>
            </a:r>
            <a:r>
              <a:rPr sz="1550">
                <a:solidFill>
                  <a:srgbClr val="111827"/>
                </a:solidFill>
                <a:latin typeface="Calibri"/>
              </a:rPr>
              <a:t>An OpenAI-compatible /v1/chat/completions client. Locally: Ollama. Production: the same model behind vLLM on GCP Cloud Run. Moving from local to deployed is an env var change (LLM_BASE_URL), not a code change.</a:t>
            </a:r>
          </a:p>
          <a:p>
            <a:pPr>
              <a:lnSpc>
                <a:spcPct val="105000"/>
              </a:lnSpc>
              <a:spcAft>
                <a:spcPts val="1600"/>
              </a:spcAft>
            </a:pPr>
            <a:r>
              <a:rPr b="1" sz="1550">
                <a:solidFill>
                  <a:srgbClr val="0EA5E9"/>
                </a:solidFill>
                <a:latin typeface="Calibri"/>
              </a:rPr>
              <a:t>▸ Fallback: </a:t>
            </a:r>
            <a:r>
              <a:rPr sz="1550">
                <a:solidFill>
                  <a:srgbClr val="111827"/>
                </a:solidFill>
                <a:latin typeface="Calibri"/>
              </a:rPr>
              <a:t>AWS Bedrock (Nova Micro + 3 alternates) kept behind the same model_alias switch — zero cost to keep, real value if the primary endpoint is ever unavailable during a demo.</a:t>
            </a:r>
          </a:p>
          <a:p>
            <a:pPr>
              <a:lnSpc>
                <a:spcPct val="105000"/>
              </a:lnSpc>
              <a:spcAft>
                <a:spcPts val="1600"/>
              </a:spcAft>
            </a:pPr>
            <a:r>
              <a:rPr b="1" sz="1550">
                <a:solidFill>
                  <a:srgbClr val="0EA5E9"/>
                </a:solidFill>
                <a:latin typeface="Calibri"/>
              </a:rPr>
              <a:t>▸ Philosophy: </a:t>
            </a:r>
            <a:r>
              <a:rPr sz="1550">
                <a:solidFill>
                  <a:srgbClr val="111827"/>
                </a:solidFill>
                <a:latin typeface="Calibri"/>
              </a:rPr>
              <a:t>Accuracy comes from execution-feedback repair, real column types, and a verified-query cache — not from throwing a bigger model at the problem. Directly answers the “why this model, what accuracy looked like” bonus ask.</a:t>
            </a:r>
          </a:p>
        </p:txBody>
      </p:sp>
      <p:sp>
        <p:nvSpPr>
          <p:cNvPr id="7" name="Rectangle 6"/>
          <p:cNvSpPr/>
          <p:nvPr/>
        </p:nvSpPr>
        <p:spPr>
          <a:xfrm>
            <a:off x="7178040" y="1325880"/>
            <a:ext cx="4480560" cy="32004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06640" y="1463040"/>
            <a:ext cx="4023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Calibri"/>
              </a:rPr>
              <a:t>Confirmed live against the deployed endpoint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40" y="1874519"/>
            <a:ext cx="40233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300">
                <a:solidFill>
                  <a:srgbClr val="111827"/>
                </a:solidFill>
                <a:latin typeface="Calibri"/>
              </a:rPr>
              <a:t>▸ response_format (JSON schema) IS enforced — guaranteed valid classification output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300">
                <a:solidFill>
                  <a:srgbClr val="111827"/>
                </a:solidFill>
                <a:latin typeface="Calibri"/>
              </a:rPr>
              <a:t>▸ Older guided_json / guided_choice params are NOT enforced on this vLLM 0.28 build — tested directly, not assumed from docs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300">
                <a:solidFill>
                  <a:srgbClr val="111827"/>
                </a:solidFill>
                <a:latin typeface="Calibri"/>
              </a:rPr>
              <a:t>▸ Context window: 4096 tokens. Our SQL-generation prompt alone runs ~2300 tokens — max_tokens tuned to leave real margin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6539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TBX Finance Assistant — BVP Tech Catalyst Hackathon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56539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38BDF8"/>
                </a:solidFill>
                <a:latin typeface="Calibri"/>
              </a:rPr>
              <a:t>DESIGN CHOICE #2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1155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Accuracy Foundation: Real Column Types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32688"/>
            <a:ext cx="1188720" cy="381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6492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0EA5E9"/>
                </a:solidFill>
                <a:latin typeface="Calibri"/>
              </a:rPr>
              <a:t>What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64922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0" i="0">
                <a:solidFill>
                  <a:srgbClr val="111827"/>
                </a:solidFill>
                <a:latin typeface="Calibri"/>
              </a:rPr>
              <a:t>Load balance/date/amount columns as real DECIMAL / TIMESTAMP / INTEGER — not ALL_VARCHAR (the naive DuckDB default).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606040"/>
            <a:ext cx="6492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0EA5E9"/>
                </a:solidFill>
                <a:latin typeface="Calibri"/>
              </a:rPr>
              <a:t>Why (the justification)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926080"/>
            <a:ext cx="6492240" cy="2651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0" i="0">
                <a:solidFill>
                  <a:srgbClr val="111827"/>
                </a:solidFill>
                <a:latin typeface="Calibri"/>
              </a:rPr>
              <a:t>A VARCHAR-only schema forces the LLM to remember CAST(x AS DECIMAL) on every single numeric comparison. Forgetting it even once is a silent or loud failure. Fixing the data layer removes an entire class of small-model mistakes — instead of teaching the model to work around a self-inflicted problem, we removed the problem.
Same principle applied to NULL handling: empty reference/UTR cells become real SQL NULL (checked with IS NULL), matching the schema's actual semantics instead of the string ''.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269480" y="1280160"/>
            <a:ext cx="4389120" cy="429768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269480" y="1280160"/>
            <a:ext cx="4389120" cy="73152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79" y="1463040"/>
            <a:ext cx="3931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Result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79" y="1920240"/>
            <a:ext cx="3977639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250">
                <a:solidFill>
                  <a:srgbClr val="E2E8F0"/>
                </a:solidFill>
                <a:latin typeface="Calibri"/>
              </a:rPr>
              <a:t>▸ No more “forgot the CAST” failures — eliminated at the source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250">
                <a:solidFill>
                  <a:srgbClr val="E2E8F0"/>
                </a:solidFill>
                <a:latin typeface="Calibri"/>
              </a:rPr>
              <a:t>▸ Prompts got simpler: fewer rules for the model to hold in its 1.5B-parameter head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250">
                <a:solidFill>
                  <a:srgbClr val="E2E8F0"/>
                </a:solidFill>
                <a:latin typeface="Calibri"/>
              </a:rPr>
              <a:t>▸ Directly enabled indexes on transaction_date to work as real timestamp comparisons, not string compares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56539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TBX Finance Assistant — BVP Tech Catalyst Hackathon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47120" y="656539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38BDF8"/>
                </a:solidFill>
                <a:latin typeface="Calibri"/>
              </a:rPr>
              <a:t>DESIGN CHOICE #3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1155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Accuracy Technique: Execution-Guided Self-Consistency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32688"/>
            <a:ext cx="1188720" cy="381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6492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0EA5E9"/>
                </a:solidFill>
                <a:latin typeface="Calibri"/>
              </a:rPr>
              <a:t>What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64922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0" i="0">
                <a:solidFill>
                  <a:srgbClr val="111827"/>
                </a:solidFill>
                <a:latin typeface="Calibri"/>
              </a:rPr>
              <a:t>Sample 3 SQL candidates concurrently (higher temperature, 0.4), execute all of them, and majority-vote on the normalized EXECUTED RESULT — not the SQL text.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606040"/>
            <a:ext cx="6492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0EA5E9"/>
                </a:solidFill>
                <a:latin typeface="Calibri"/>
              </a:rPr>
              <a:t>Why (the justification)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926080"/>
            <a:ext cx="6492240" cy="2651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0" i="0">
                <a:solidFill>
                  <a:srgbClr val="111827"/>
                </a:solidFill>
                <a:latin typeface="Calibri"/>
              </a:rPr>
              <a:t>Research-backed (execution-guided SQL generation literature): sampling + majority vote on execution results is reported to cut schema-linking/join/logical-form errors 20–40%, letting small models approach much larger ones. Two differently-worded queries that return the same rows count as agreement; a query that fails to execute never wins a vote.
Cost: up to 3x LLM calls, but concurrent — latency impact is far smaller than 3x. A deliberate trade given “accuracy first, speed second.” Set SQL_SELF_CONSISTENCY_N=1 to disable entirely.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269480" y="1280160"/>
            <a:ext cx="4389120" cy="429768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269480" y="1280160"/>
            <a:ext cx="4389120" cy="73152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79" y="1463040"/>
            <a:ext cx="3931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Measured impact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79" y="1920240"/>
            <a:ext cx="3977639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250">
                <a:solidFill>
                  <a:srgbClr val="E2E8F0"/>
                </a:solidFill>
                <a:latin typeface="Calibri"/>
              </a:rPr>
              <a:t>▸ Small dataset: 87.2% → 91.7% overall (baseline → full pipeline)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250">
                <a:solidFill>
                  <a:srgbClr val="E2E8F0"/>
                </a:solidFill>
                <a:latin typeface="Calibri"/>
              </a:rPr>
              <a:t>▸ Large dataset (500K txns): 81.1% → 94.4% overall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250">
                <a:solidFill>
                  <a:srgbClr val="E2E8F0"/>
                </a:solidFill>
                <a:latin typeface="Calibri"/>
              </a:rPr>
              <a:t>▸ Biggest wins on complex questions — exactly where the literature predicts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250">
                <a:solidFill>
                  <a:srgbClr val="E2E8F0"/>
                </a:solidFill>
                <a:latin typeface="Calibri"/>
              </a:rPr>
              <a:t>▸ Two real failures fixed after being surfaced by this exact mechanism (next slide)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56539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TBX Finance Assistant — BVP Tech Catalyst Hackathon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47120" y="656539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38BDF8"/>
                </a:solidFill>
                <a:latin typeface="Calibri"/>
              </a:rPr>
              <a:t>DESIGN CHOICE #4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1155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Accuracy Technique: Execution-Feedback Repair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32688"/>
            <a:ext cx="1188720" cy="381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6492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0EA5E9"/>
                </a:solidFill>
                <a:latin typeface="Calibri"/>
              </a:rPr>
              <a:t>What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64922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0" i="0">
                <a:solidFill>
                  <a:srgbClr val="111827"/>
                </a:solidFill>
                <a:latin typeface="Calibri"/>
              </a:rPr>
              <a:t>When execution genuinely fails, feed the real database error back to the model for ONE bounded regeneration attempt — then re-validate and re-execute once.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606040"/>
            <a:ext cx="6492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0EA5E9"/>
                </a:solidFill>
                <a:latin typeface="Calibri"/>
              </a:rPr>
              <a:t>Why (the justification)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926080"/>
            <a:ext cx="6492240" cy="2651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0" i="0">
                <a:solidFill>
                  <a:srgbClr val="111827"/>
                </a:solidFill>
                <a:latin typeface="Calibri"/>
              </a:rPr>
              <a:t>The original design asked the same tiny model to “blindly review” its own SQL with zero error signal to react to — a well-known anti-pattern that wastes a call without giving the model anything new to work with. Feeding the ACTUAL DB error (“Column X does not exist”, “GROUP BY missing Y”) gives the model something concrete to fix.
Bounded to exactly one retry via a repair_attempted state flag — never an unbounded loop. A teammate independently converged on the same idea in a parallel branch — strong external validation this was the right fix.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269480" y="1280160"/>
            <a:ext cx="4389120" cy="429768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269480" y="1280160"/>
            <a:ext cx="4389120" cy="731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79" y="1463040"/>
            <a:ext cx="3931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Why not just retry forever?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79" y="1920240"/>
            <a:ext cx="3977639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250">
                <a:solidFill>
                  <a:srgbClr val="E2E8F0"/>
                </a:solidFill>
                <a:latin typeface="Calibri"/>
              </a:rPr>
              <a:t>▸ Diminishing returns: a query that fails validation twice usually reflects a genuine misunderstanding, not bad luck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250">
                <a:solidFill>
                  <a:srgbClr val="E2E8F0"/>
                </a:solidFill>
                <a:latin typeface="Calibri"/>
              </a:rPr>
              <a:t>▸ Bounded retries keep latency predictable and avoid masking real accuracy gaps behind brute-force retries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250">
                <a:solidFill>
                  <a:srgbClr val="E2E8F0"/>
                </a:solidFill>
                <a:latin typeface="Calibri"/>
              </a:rPr>
              <a:t>▸ Static SQLValidator still gates every execution attempt — repaired SQL is never trusted blindly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56539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TBX Finance Assistant — BVP Tech Catalyst Hackathon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47120" y="656539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38BDF8"/>
                </a:solidFill>
                <a:latin typeface="Calibri"/>
              </a:rPr>
              <a:t>DESIGN CHOICE #5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1155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Accuracy + Speed: Verified-Query Cache (Redis)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32688"/>
            <a:ext cx="1188720" cy="381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6492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0EA5E9"/>
                </a:solidFill>
                <a:latin typeface="Calibri"/>
              </a:rPr>
              <a:t>What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64922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0" i="0">
                <a:solidFill>
                  <a:srgbClr val="111827"/>
                </a:solidFill>
                <a:latin typeface="Calibri"/>
              </a:rPr>
              <a:t>Before generating SQL, check Redis for a prior, execution-verified answer to an equivalent question. If found, replay that SQL directly — still re-executed against live data, never trusted blindly.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606040"/>
            <a:ext cx="6492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0EA5E9"/>
                </a:solidFill>
                <a:latin typeface="Calibri"/>
              </a:rPr>
              <a:t>Why (the justification)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926080"/>
            <a:ext cx="6492240" cy="2651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0" i="0">
                <a:solidFill>
                  <a:srgbClr val="111827"/>
                </a:solidFill>
                <a:latin typeface="Calibri"/>
              </a:rPr>
              <a:t>This is the relational-database translation of a lesson from deterministic-agent-accuracy research: persist verified decisions so the system gets MORE deterministic on repeat runs, instead of re-deriving everything from scratch. Replaying a query that's already proven correct is strictly more reliable than asking a 1.5B model to regenerate SQL for a question it has effectively already answered.
Scoped deliberately small: exact/normalized-text matching, not embedding similarity — no vector infra needed for a question set this scoped. Cache key includes both the dataset and the active entity_id as discriminators, so a query verified under one context is never silently replayed under a mismatched one.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269480" y="1280160"/>
            <a:ext cx="4389120" cy="429768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269480" y="1280160"/>
            <a:ext cx="4389120" cy="73152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79" y="1463040"/>
            <a:ext cx="3931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Fails open, always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79" y="1920240"/>
            <a:ext cx="3977639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250">
                <a:solidFill>
                  <a:srgbClr val="E2E8F0"/>
                </a:solidFill>
                <a:latin typeface="Calibri"/>
              </a:rPr>
              <a:t>▸ If Redis is unreachable, the cache is skipped silently — the accuracy path never hard-depends on it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250">
                <a:solidFill>
                  <a:srgbClr val="E2E8F0"/>
                </a:solidFill>
                <a:latin typeface="Calibri"/>
              </a:rPr>
              <a:t>▸ Cache is flushed automatically on every dataset switch (CSV small/large, or MySQL)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250">
                <a:solidFill>
                  <a:srgbClr val="E2E8F0"/>
                </a:solidFill>
                <a:latin typeface="Calibri"/>
              </a:rPr>
              <a:t>▸ Only SQL that has actually executed without error is ever cached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56539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TBX Finance Assistant — BVP Tech Catalyst Hackathon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47120" y="656539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38BDF8"/>
                </a:solidFill>
                <a:latin typeface="Calibri"/>
              </a:rPr>
              <a:t>DESIGN CHOICE #6 — A REAL INCIDENT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1155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The Query That Took 938 Seconds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32688"/>
            <a:ext cx="1188720" cy="381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280160"/>
            <a:ext cx="11064240" cy="1371600"/>
          </a:xfrm>
          <a:prstGeom prst="rect">
            <a:avLst/>
          </a:prstGeom>
          <a:solidFill>
            <a:srgbClr val="45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41732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EF4444"/>
                </a:solidFill>
                <a:latin typeface="Calibri"/>
              </a:rPr>
              <a:t>What happened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106070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  <a:latin typeface="Calibri"/>
              </a:rPr>
              <a:t>While benchmarking, the model wrote a self-join with an OR condition: “JOIN transaction t2 ON t1.ref_id = t2.ref_id OR t1.utr = t2.utr”. On 500K rows, this degenerates toward a cross product — it ran for 938 seconds and consumed ~15GB before DuckDB itself gave up with an OOM error.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880360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  <a:latin typeface="Calibri"/>
              </a:rPr>
              <a:t>Two independent guards added, both verified live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337560"/>
            <a:ext cx="5394960" cy="301752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3337560"/>
            <a:ext cx="5394960" cy="73152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520440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  <a:latin typeface="Calibri"/>
              </a:rPr>
              <a:t>Static: query-cost guard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931920"/>
            <a:ext cx="493776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111827"/>
                </a:solidFill>
                <a:latin typeface="Calibri"/>
              </a:rPr>
              <a:t>SQLValidator._check_join_cost statically rejects any JOIN...ON clause containing OR, before the query ever reaches the database. Instant, specific error fed straight into the repair loop.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2200" y="3337560"/>
            <a:ext cx="5394960" cy="301752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2200" y="3337560"/>
            <a:ext cx="5394960" cy="73152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3520440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  <a:latin typeface="Calibri"/>
              </a:rPr>
              <a:t>Dynamic: hard timeout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931920"/>
            <a:ext cx="493776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111827"/>
                </a:solidFill>
                <a:latin typeface="Calibri"/>
              </a:rPr>
              <a:t>FinanceDB._execute_with_timeout runs every query on a background thread and hard-cancels it via conn.interrupt() after QUERY_TIMEOUT_SECONDS (15s default) — catches whatever the static guard doesn't name.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1">
                <a:solidFill>
                  <a:srgbClr val="6B7280"/>
                </a:solidFill>
                <a:latin typeface="Calibri"/>
              </a:rPr>
              <a:t>Verified: the identical cross-product pattern now aborts in ~2 seconds instead of 938. Also confirmed against MySQL-backed tables.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6539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TBX Finance Assistant — BVP Tech Catalyst Hackathon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47120" y="656539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38BDF8"/>
                </a:solidFill>
                <a:latin typeface="Calibri"/>
              </a:rPr>
              <a:t>DESIGN CHOICE #7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1155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Security: Encrypted Columns, Decrypted at Runtime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32688"/>
            <a:ext cx="1188720" cy="381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6309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0EA5E9"/>
                </a:solidFill>
                <a:latin typeface="Calibri"/>
              </a:rPr>
              <a:t>Requirement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6309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11827"/>
                </a:solidFill>
                <a:latin typeface="Calibri"/>
              </a:rPr>
              <a:t>account_number and utr_number are sensitive. They must be encrypted at rest, decrypted at query time with minimal latency, and ALWAYS shown decrypted on screen — no masking.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31720"/>
            <a:ext cx="6309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0EA5E9"/>
                </a:solidFill>
                <a:latin typeface="Calibri"/>
              </a:rPr>
              <a:t>Scheme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651760"/>
            <a:ext cx="63093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b="1" sz="1350">
                <a:solidFill>
                  <a:srgbClr val="0EA5E9"/>
                </a:solidFill>
                <a:latin typeface="Calibri"/>
              </a:rPr>
              <a:t>▸ Cipher: </a:t>
            </a:r>
            <a:r>
              <a:rPr sz="1350">
                <a:solidFill>
                  <a:srgbClr val="111827"/>
                </a:solidFill>
                <a:latin typeface="Calibri"/>
              </a:rPr>
              <a:t>AES-256-GCM (authenticated, 256-bit key) — not SHA-256, which is a one-way hash and cannot decrypt anything.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b="1" sz="1350">
                <a:solidFill>
                  <a:srgbClr val="0EA5E9"/>
                </a:solidFill>
                <a:latin typeface="Calibri"/>
              </a:rPr>
              <a:t>▸ Key: </a:t>
            </a:r>
            <a:r>
              <a:rPr sz="1350">
                <a:solidFill>
                  <a:srgbClr val="111827"/>
                </a:solidFill>
                <a:latin typeface="Calibri"/>
              </a:rPr>
              <a:t>One server-held key (ENCRYPTION_KEY env var). No per-request key handling — matches the problem statement's explicit no-multi-tenant-auth scope.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160520"/>
            <a:ext cx="6309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0EA5E9"/>
                </a:solidFill>
                <a:latin typeface="Calibri"/>
              </a:rPr>
              <a:t>When decryption happens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480560"/>
            <a:ext cx="630936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 i="0">
                <a:solidFill>
                  <a:srgbClr val="111827"/>
                </a:solidFill>
                <a:latin typeface="Calibri"/>
              </a:rPr>
              <a:t>Only once, in query_execution_node, on the final (already small) result set — never eagerly, never during filtering. AES-GCM is non-deterministic (random nonce per value), so a WHERE/JOIN can never match ciphertext anyway — the static SQLValidator guard rejects any attempt before it wastes a database round trip.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69480" y="1280160"/>
            <a:ext cx="4389120" cy="4937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269480" y="1280160"/>
            <a:ext cx="4389120" cy="73152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79" y="1463040"/>
            <a:ext cx="3931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Measured &amp; verified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79" y="1920240"/>
            <a:ext cx="3977639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250">
                <a:solidFill>
                  <a:srgbClr val="E2E8F0"/>
                </a:solidFill>
                <a:latin typeface="Calibri"/>
              </a:rPr>
              <a:t>▸ Decryption cost: ~2.7–4.7μs/row, ~0.3ms even at the 100K-row hard cap — not the bottleneck by ~3 orders of magnitude vs. LLM calls (3–18s)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250">
                <a:solidFill>
                  <a:srgbClr val="E2E8F0"/>
                </a:solidFill>
                <a:latin typeface="Calibri"/>
              </a:rPr>
              <a:t>▸ Substring column matching: MAX(account_number) AS max_account_number still gets decrypted correctly under its alias — a real bug found and fixed while testing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250">
                <a:solidFill>
                  <a:srgbClr val="E2E8F0"/>
                </a:solidFill>
                <a:latin typeface="Calibri"/>
              </a:rPr>
              <a:t>▸ 4 of 5 complex, multi-table, decryption-requiring test questions worked correctly on the first pass, on both the 10-row and 500K-row datasets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250">
                <a:solidFill>
                  <a:srgbClr val="E2E8F0"/>
                </a:solidFill>
                <a:latin typeface="Calibri"/>
              </a:rPr>
              <a:t>▸ No masking anywhere in the pipeline or UI — confirmed end-to-end via the real HTTP API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6539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TBX Finance Assistant — BVP Tech Catalyst Hackathon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47120" y="656539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38BDF8"/>
                </a:solidFill>
                <a:latin typeface="Calibri"/>
              </a:rPr>
              <a:t>DESIGN CHOICE #8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1155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Multi-Turn UX: Entity Scoping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32688"/>
            <a:ext cx="1188720" cy="381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6492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0EA5E9"/>
                </a:solidFill>
                <a:latin typeface="Calibri"/>
              </a:rPr>
              <a:t>What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64922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0" i="0">
                <a:solidFill>
                  <a:srgbClr val="111827"/>
                </a:solidFill>
                <a:latin typeface="Calibri"/>
              </a:rPr>
              <a:t>A UI dropdown lets the user lock the conversation to one entity_id (customer). Once locked (after the first message), it stays locked for that session.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606040"/>
            <a:ext cx="6492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0EA5E9"/>
                </a:solidFill>
                <a:latin typeface="Calibri"/>
              </a:rPr>
              <a:t>Why (the justification)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926080"/>
            <a:ext cx="6492240" cy="2651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0" i="0">
                <a:solidFill>
                  <a:srgbClr val="111827"/>
                </a:solidFill>
                <a:latin typeface="Calibri"/>
              </a:rPr>
              <a:t>Directly serves the must-have requirement: “follow-up questions... should work without the user repeating context.” Once locked, pronouns like “its” / “this account” resolve automatically — the classification and SQL-generation prompts are told which entity is active, so the model doesn't need to re-ask or guess.
A defense-in-depth filter also runs after execution: if the LLM's SQL somehow didn't filter by entity_id, any row tagged with a different entity is dropped before it ever reaches decryption or the user.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269480" y="1280160"/>
            <a:ext cx="4389120" cy="429768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269480" y="1280160"/>
            <a:ext cx="4389120" cy="731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79" y="1463040"/>
            <a:ext cx="3931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Bug found while integrating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79" y="1920240"/>
            <a:ext cx="3977639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250">
                <a:solidFill>
                  <a:srgbClr val="E2E8F0"/>
                </a:solidFill>
                <a:latin typeface="Calibri"/>
              </a:rPr>
              <a:t>▸ The verified-query cache key didn't originally include entity_id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250">
                <a:solidFill>
                  <a:srgbClr val="E2E8F0"/>
                </a:solidFill>
                <a:latin typeface="Calibri"/>
              </a:rPr>
              <a:t>▸ A query cached while scoped to entity A could get replayed for entity B — the cached SQL's baked-in filter wouldn't match, and the defense-in-depth filter would then silently drop every row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250">
                <a:solidFill>
                  <a:srgbClr val="E2E8F0"/>
                </a:solidFill>
                <a:latin typeface="Calibri"/>
              </a:rPr>
              <a:t>▸ Fixed: cache key now includes entity_id as a discriminator, same pattern as the dataset discriminator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56539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TBX Finance Assistant — BVP Tech Catalyst Hackathon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47120" y="656539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38BDF8"/>
                </a:solidFill>
                <a:latin typeface="Calibri"/>
              </a:rPr>
              <a:t>DESIGN CHOICE #9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1155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Ready for the 20M-Row Judge Database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32688"/>
            <a:ext cx="1188720" cy="381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6309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600"/>
              </a:spcAft>
            </a:pPr>
            <a:r>
              <a:rPr b="1" sz="1500">
                <a:solidFill>
                  <a:srgbClr val="0EA5E9"/>
                </a:solidFill>
                <a:latin typeface="Calibri"/>
              </a:rPr>
              <a:t>▸ Design: </a:t>
            </a:r>
            <a:r>
              <a:rPr sz="1500">
                <a:solidFill>
                  <a:srgbClr val="111827"/>
                </a:solidFill>
                <a:latin typeface="Calibri"/>
              </a:rPr>
              <a:t>FinanceDB's execute_query / execute_scalar / get_schema_info interface is the one seam every pipeline node talks through — not DuckDB directly.</a:t>
            </a:r>
          </a:p>
          <a:p>
            <a:pPr>
              <a:lnSpc>
                <a:spcPct val="105000"/>
              </a:lnSpc>
              <a:spcAft>
                <a:spcPts val="1600"/>
              </a:spcAft>
            </a:pPr>
            <a:r>
              <a:rPr b="1" sz="1500">
                <a:solidFill>
                  <a:srgbClr val="0EA5E9"/>
                </a:solidFill>
                <a:latin typeface="Calibri"/>
              </a:rPr>
              <a:t>▸ Implementation: </a:t>
            </a:r>
            <a:r>
              <a:rPr sz="1500">
                <a:solidFill>
                  <a:srgbClr val="111827"/>
                </a:solidFill>
                <a:latin typeface="Calibri"/>
              </a:rPr>
              <a:t>A MySQL-backed implementation of that same interface is a drop-in swap: DuckDB's own mysql extension ATTACHes the live database, materializes bank/account/transaction locally (works around a known DuckDB count_star() bug on live cross-catalog views), then any freshly-ingested plaintext gets encrypted automatically.</a:t>
            </a:r>
          </a:p>
          <a:p>
            <a:pPr>
              <a:lnSpc>
                <a:spcPct val="105000"/>
              </a:lnSpc>
              <a:spcAft>
                <a:spcPts val="1600"/>
              </a:spcAft>
            </a:pPr>
            <a:r>
              <a:rPr b="1" sz="1500">
                <a:solidFill>
                  <a:srgbClr val="0EA5E9"/>
                </a:solidFill>
                <a:latin typeface="Calibri"/>
              </a:rPr>
              <a:t>▸ Tested against: </a:t>
            </a:r>
            <a:r>
              <a:rPr sz="1500">
                <a:solidFill>
                  <a:srgbClr val="111827"/>
                </a:solidFill>
                <a:latin typeface="Calibri"/>
              </a:rPr>
              <a:t>A real local MySQL 8.0 container. Found (and fixed) a genuine bug in an earlier version: encryption was called mid-loop, before the transaction table even existed — restructured to load all tables first, then encrypt in one pass. Verified twice cleanly.</a:t>
            </a:r>
          </a:p>
          <a:p>
            <a:pPr>
              <a:lnSpc>
                <a:spcPct val="105000"/>
              </a:lnSpc>
              <a:spcAft>
                <a:spcPts val="1600"/>
              </a:spcAft>
            </a:pPr>
            <a:r>
              <a:rPr b="1" sz="1500">
                <a:solidFill>
                  <a:srgbClr val="0EA5E9"/>
                </a:solidFill>
                <a:latin typeface="Calibri"/>
              </a:rPr>
              <a:t>▸ Safety carries over: </a:t>
            </a:r>
            <a:r>
              <a:rPr sz="1500">
                <a:solidFill>
                  <a:srgbClr val="111827"/>
                </a:solidFill>
                <a:latin typeface="Calibri"/>
              </a:rPr>
              <a:t>Both the join-cost guard and the query timeout apply identically to MySQL-backed tables — confirmed live, not assumed.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7178040" y="1325880"/>
            <a:ext cx="4480560" cy="42062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06640" y="1463040"/>
            <a:ext cx="4023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  <a:latin typeface="Calibri"/>
              </a:rPr>
              <a:t>What's still pending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40" y="1874519"/>
            <a:ext cx="40233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300">
                <a:solidFill>
                  <a:srgbClr val="111827"/>
                </a:solidFill>
                <a:latin typeface="Calibri"/>
              </a:rPr>
              <a:t>▸ The real ENCRYPTION_KEY must match whatever scheme the judge database actually uses — our demo key only matches our own re-encrypted sample data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300">
                <a:solidFill>
                  <a:srgbClr val="111827"/>
                </a:solidFill>
                <a:latin typeface="Calibri"/>
              </a:rPr>
              <a:t>▸ Graceful degradation built in: an unrecognized cipher/key fails safe (returns the value unchanged), never silently wrong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300">
                <a:solidFill>
                  <a:srgbClr val="111827"/>
                </a:solidFill>
                <a:latin typeface="Calibri"/>
              </a:rPr>
              <a:t>▸ Indexes to add on the live schema: transaction.account_id, transaction_date, transaction_reference_id, utr_number, account.bank_code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6539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TBX Finance Assistant — BVP Tech Catalyst Hackathon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56539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38BDF8"/>
                </a:solidFill>
                <a:latin typeface="Calibri"/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1155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Measured Accuracy — Execution-Verified, Not Estimated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32688"/>
            <a:ext cx="1188720" cy="381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 i="1">
                <a:solidFill>
                  <a:srgbClr val="6B7280"/>
                </a:solidFill>
                <a:latin typeface="Calibri"/>
              </a:rPr>
              <a:t>15 hand-written questions (5 easy / 5 moderate / 5 complex), each with a hand-verified reference SQL query. Scoring runs the extracted SQL for real and numerically compares results (5% tolerance) — not keyword matching.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20240"/>
            <a:ext cx="5394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  <a:latin typeface="Calibri"/>
              </a:rPr>
              <a:t>Small dataset (10 rows/table)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331720"/>
          <a:ext cx="539496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554480"/>
                <a:gridCol w="1554480"/>
              </a:tblGrid>
              <a:tr h="530352">
                <a:tc>
                  <a:txBody>
                    <a:bodyPr/>
                    <a:lstStyle/>
                    <a:p>
                      <a:pPr algn="ctr"/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Baseline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Full Pipeline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Easy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F172A"/>
                          </a:solidFill>
                        </a:rPr>
                        <a:t>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F172A"/>
                          </a:solidFill>
                        </a:rPr>
                        <a:t>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Moderate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F172A"/>
                          </a:solidFill>
                        </a:rPr>
                        <a:t>95%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F172A"/>
                          </a:solidFill>
                        </a:rPr>
                        <a:t>95%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Complex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F172A"/>
                          </a:solidFill>
                        </a:rPr>
                        <a:t>66.7%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F172A"/>
                          </a:solidFill>
                        </a:rPr>
                        <a:t>80.0%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0F172A"/>
                          </a:solidFill>
                        </a:rPr>
                        <a:t>Overall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F172A"/>
                          </a:solidFill>
                        </a:rPr>
                        <a:t>87.2%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F172A"/>
                          </a:solidFill>
                        </a:rPr>
                        <a:t>91.7%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263640" y="1920240"/>
            <a:ext cx="5394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  <a:latin typeface="Calibri"/>
              </a:rPr>
              <a:t>Large dataset (500K transactions)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263640" y="2331720"/>
          <a:ext cx="539496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554480"/>
                <a:gridCol w="1554480"/>
              </a:tblGrid>
              <a:tr h="530352">
                <a:tc>
                  <a:txBody>
                    <a:bodyPr/>
                    <a:lstStyle/>
                    <a:p>
                      <a:pPr algn="ctr"/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Baseline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Full Pipeline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Easy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F172A"/>
                          </a:solidFill>
                        </a:rPr>
                        <a:t>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F172A"/>
                          </a:solidFill>
                        </a:rPr>
                        <a:t>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Moderate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F172A"/>
                          </a:solidFill>
                        </a:rPr>
                        <a:t>80%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F172A"/>
                          </a:solidFill>
                        </a:rPr>
                        <a:t>100%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Complex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F172A"/>
                          </a:solidFill>
                        </a:rPr>
                        <a:t>63.2%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F172A"/>
                          </a:solidFill>
                        </a:rPr>
                        <a:t>83.2%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0F172A"/>
                          </a:solidFill>
                        </a:rPr>
                        <a:t>Overall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F172A"/>
                          </a:solidFill>
                        </a:rPr>
                        <a:t>81.1%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F172A"/>
                          </a:solidFill>
                        </a:rPr>
                        <a:t>94.4%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48640" y="5166360"/>
            <a:ext cx="110642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1">
                <a:solidFill>
                  <a:srgbClr val="6B7280"/>
                </a:solidFill>
                <a:latin typeface="Calibri"/>
              </a:rPr>
              <a:t>Honest read: complex questions show the largest, most consistent gains from the full pipeline — exactly matching the self-consistency literature's prediction. Remaining gaps are real, specific, and documented (e.g. one question with a genuine reference-SQL ambiguity, flagged rather than silently “fixed” by overfitting the prompt).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56539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TBX Finance Assistant — BVP Tech Catalyst Hackathon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47120" y="656539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38BDF8"/>
                </a:solidFill>
                <a:latin typeface="Calibri"/>
              </a:rPr>
              <a:t>REQUIREMENT COVERAGE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1155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Grounding, Verifiability &amp; Explainability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32688"/>
            <a:ext cx="1188720" cy="381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280160"/>
          <a:ext cx="11064240" cy="521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8321040"/>
              </a:tblGrid>
              <a:tr h="651510"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</a:rPr>
                        <a:t>Requirement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</a:rPr>
                        <a:t>How this solution satisfies it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651510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50" b="1">
                          <a:solidFill>
                            <a:srgbClr val="111827"/>
                          </a:solidFill>
                        </a:rPr>
                        <a:t>Grounded retrieval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50">
                          <a:solidFill>
                            <a:srgbClr val="111827"/>
                          </a:solidFill>
                        </a:rPr>
                        <a:t>Every answer executes real SQL against real data — the model never states a number directly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1510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50" b="1">
                          <a:solidFill>
                            <a:srgbClr val="111827"/>
                          </a:solidFill>
                        </a:rPr>
                        <a:t>Accurate computation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50">
                          <a:solidFill>
                            <a:srgbClr val="111827"/>
                          </a:solidFill>
                        </a:rPr>
                        <a:t>SUM/COUNT/AVG computed by the database via validated SQL, not by the LLM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651510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50" b="1">
                          <a:solidFill>
                            <a:srgbClr val="111827"/>
                          </a:solidFill>
                        </a:rPr>
                        <a:t>Verifiable answers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50">
                          <a:solidFill>
                            <a:srgbClr val="111827"/>
                          </a:solidFill>
                        </a:rPr>
                        <a:t>Every response pairs plain-language text with the SQL query, a results table, and grounding info (data source, rows analyzed)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1510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50" b="1">
                          <a:solidFill>
                            <a:srgbClr val="111827"/>
                          </a:solidFill>
                        </a:rPr>
                        <a:t>Hallucination guardrails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50">
                          <a:solidFill>
                            <a:srgbClr val="111827"/>
                          </a:solidFill>
                        </a:rPr>
                        <a:t>Static validator + execution-feedback repair; an honest “I wasn't able to retrieve that data” when nothing works — never an invented figure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651510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50" b="1">
                          <a:solidFill>
                            <a:srgbClr val="111827"/>
                          </a:solidFill>
                        </a:rPr>
                        <a:t>Confidence signalling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50">
                          <a:solidFill>
                            <a:srgbClr val="111827"/>
                          </a:solidFill>
                        </a:rPr>
                        <a:t>Composite score (query clarity + data completeness + result reliability) shown with every answer, color-banded high/medium/low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1510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50" b="1">
                          <a:solidFill>
                            <a:srgbClr val="111827"/>
                          </a:solidFill>
                        </a:rPr>
                        <a:t>Explainability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50">
                          <a:solidFill>
                            <a:srgbClr val="111827"/>
                          </a:solidFill>
                        </a:rPr>
                        <a:t>A “Steps” tab shows every pipeline stage that ran — classification, SQL generation (with self-consistency agreement, e.g. “3/3 candidates agreed”), validation, execution, repair if triggered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651510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50" b="1">
                          <a:solidFill>
                            <a:srgbClr val="111827"/>
                          </a:solidFill>
                        </a:rPr>
                        <a:t>Anomaly callouts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50">
                          <a:solidFill>
                            <a:srgbClr val="111827"/>
                          </a:solidFill>
                        </a:rPr>
                        <a:t>Hybrid detection: Z-score + business-rule multiplier + Isolation Forest, flagged inline with severity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656539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TBX Finance Assistant — BVP Tech Catalyst Hackathon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6539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38BDF8"/>
                </a:solidFill>
                <a:latin typeface="Calibri"/>
              </a:rPr>
              <a:t>TECH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1155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What's Under the Hood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32688"/>
            <a:ext cx="1188720" cy="381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325880"/>
            <a:ext cx="1828800" cy="566928"/>
          </a:xfrm>
          <a:prstGeom prst="rect">
            <a:avLst/>
          </a:prstGeom>
          <a:solidFill>
            <a:srgbClr val="1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44752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50" b="1" i="0">
                <a:solidFill>
                  <a:srgbClr val="FFFFFF"/>
                </a:solidFill>
                <a:latin typeface="Calibri"/>
              </a:rP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0" y="1380744"/>
            <a:ext cx="90525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111827"/>
                </a:solidFill>
                <a:latin typeface="Calibri"/>
              </a:rPr>
              <a:t>Qwen2.5-Coder-1.5B-Instruct via OpenAI-compatible API (Ollama local / vLLM on GCP); AWS Bedrock fallback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984248"/>
            <a:ext cx="1828800" cy="566928"/>
          </a:xfrm>
          <a:prstGeom prst="rect">
            <a:avLst/>
          </a:prstGeom>
          <a:solidFill>
            <a:srgbClr val="1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10312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50" b="1" i="0">
                <a:solidFill>
                  <a:srgbClr val="FFFFFF"/>
                </a:solidFill>
                <a:latin typeface="Calibri"/>
              </a:rPr>
              <a:t>Orchestration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2039112"/>
            <a:ext cx="90525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111827"/>
                </a:solidFill>
                <a:latin typeface="Calibri"/>
              </a:rPr>
              <a:t>LangGraph state machine — 8+ nodes: classify, cache lookup, generate, validate, execute, repair, anomaly-detect, respond, export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642616"/>
            <a:ext cx="1828800" cy="566928"/>
          </a:xfrm>
          <a:prstGeom prst="rect">
            <a:avLst/>
          </a:prstGeom>
          <a:solidFill>
            <a:srgbClr val="1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761488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50" b="1" i="0">
                <a:solidFill>
                  <a:srgbClr val="FFFFFF"/>
                </a:solidFill>
                <a:latin typeface="Calibri"/>
              </a:rPr>
              <a:t>Database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0" y="2697480"/>
            <a:ext cx="90525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111827"/>
                </a:solidFill>
                <a:latin typeface="Calibri"/>
              </a:rPr>
              <a:t>DuckDB (embedded, OLAP-optimized) — CSV-backed for dev/demo, live MySQL ATTACH for the judge database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300984"/>
            <a:ext cx="1828800" cy="566928"/>
          </a:xfrm>
          <a:prstGeom prst="rect">
            <a:avLst/>
          </a:prstGeom>
          <a:solidFill>
            <a:srgbClr val="1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419856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50" b="1" i="0">
                <a:solidFill>
                  <a:srgbClr val="FFFFFF"/>
                </a:solidFill>
                <a:latin typeface="Calibri"/>
              </a:rPr>
              <a:t>Cache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0" y="3355848"/>
            <a:ext cx="90525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111827"/>
                </a:solidFill>
                <a:latin typeface="Calibri"/>
              </a:rPr>
              <a:t>Redis — verified-query cache, optional, fails open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959352"/>
            <a:ext cx="1828800" cy="566928"/>
          </a:xfrm>
          <a:prstGeom prst="rect">
            <a:avLst/>
          </a:prstGeom>
          <a:solidFill>
            <a:srgbClr val="1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4078224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50" b="1" i="0">
                <a:solidFill>
                  <a:srgbClr val="FFFFFF"/>
                </a:solidFill>
                <a:latin typeface="Calibri"/>
              </a:rPr>
              <a:t>Security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60320" y="4014216"/>
            <a:ext cx="90525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111827"/>
                </a:solidFill>
                <a:latin typeface="Calibri"/>
              </a:rPr>
              <a:t>cryptography (AES-256-GCM) for at-rest encryption of sensitive columns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617720"/>
            <a:ext cx="1828800" cy="566928"/>
          </a:xfrm>
          <a:prstGeom prst="rect">
            <a:avLst/>
          </a:prstGeom>
          <a:solidFill>
            <a:srgbClr val="1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4736592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50" b="1" i="0">
                <a:solidFill>
                  <a:srgbClr val="FFFFFF"/>
                </a:solidFill>
                <a:latin typeface="Calibri"/>
              </a:rPr>
              <a:t>Backend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60320" y="4672584"/>
            <a:ext cx="90525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111827"/>
                </a:solidFill>
                <a:latin typeface="Calibri"/>
              </a:rPr>
              <a:t>FastAPI, session persistence to disk, CSV export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5276088"/>
            <a:ext cx="1828800" cy="566928"/>
          </a:xfrm>
          <a:prstGeom prst="rect">
            <a:avLst/>
          </a:prstGeom>
          <a:solidFill>
            <a:srgbClr val="1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539496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50" b="1" i="0">
                <a:solidFill>
                  <a:srgbClr val="FFFFFF"/>
                </a:solidFill>
                <a:latin typeface="Calibri"/>
              </a:rPr>
              <a:t>Frontend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60320" y="5330952"/>
            <a:ext cx="90525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111827"/>
                </a:solidFill>
                <a:latin typeface="Calibri"/>
              </a:rPr>
              <a:t>Next.js + TypeScript — chat interface, results panel, steps trace, entity filter, session sidebar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5934456"/>
            <a:ext cx="1828800" cy="566928"/>
          </a:xfrm>
          <a:prstGeom prst="rect">
            <a:avLst/>
          </a:prstGeom>
          <a:solidFill>
            <a:srgbClr val="1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6053328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50" b="1" i="0">
                <a:solidFill>
                  <a:srgbClr val="FFFFFF"/>
                </a:solidFill>
                <a:latin typeface="Calibri"/>
              </a:rPr>
              <a:t>Testing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60320" y="5989320"/>
            <a:ext cx="90525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111827"/>
                </a:solidFill>
                <a:latin typeface="Calibri"/>
              </a:rPr>
              <a:t>Self-contained assert-based unit tests (no live server needed) + a 15-question execution-verified benchmark suite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56539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TBX Finance Assistant — BVP Tech Catalyst Hackathon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47120" y="656539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38BDF8"/>
                </a:solidFill>
                <a:latin typeface="Calibri"/>
              </a:rPr>
              <a:t>ENGINEERING 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1155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Two Parallel Branches, Merged Deliberately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32688"/>
            <a:ext cx="1188720" cy="381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1064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1">
                <a:solidFill>
                  <a:srgbClr val="6B7280"/>
                </a:solidFill>
                <a:latin typeface="Calibri"/>
              </a:rPr>
              <a:t>A teammate independently built encryption + MySQL support on the main branch while this branch focused on accuracy engineering. Both were tested individually, live, before merging.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6596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</a:pPr>
            <a:r>
              <a:rPr b="1" sz="1450">
                <a:solidFill>
                  <a:srgbClr val="0EA5E9"/>
                </a:solidFill>
                <a:latin typeface="Calibri"/>
              </a:rPr>
              <a:t>▸ Found by testing: </a:t>
            </a:r>
            <a:r>
              <a:rPr sz="1450">
                <a:solidFill>
                  <a:srgbClr val="111827"/>
                </a:solidFill>
                <a:latin typeface="Calibri"/>
              </a:rPr>
              <a:t>The same pathological OR-join query that this branch handles in ~15s took down the teammate's entire server (5.75GB+ RAM, unresponsive to ALL requests) on the 500K-row dataset — confirmed live, not assumed from reading code.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450">
                <a:solidFill>
                  <a:srgbClr val="111827"/>
                </a:solidFill>
                <a:latin typeface="Calibri"/>
              </a:rPr>
              <a:t>▸ Their MySQL ingestion hung indefinitely on the transaction table, reproduced twice cleanly against a real MySQL 8.0 container — root-caused and fixed during the merge (see slide 15).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450">
                <a:solidFill>
                  <a:srgbClr val="111827"/>
                </a:solidFill>
                <a:latin typeface="Calibri"/>
              </a:rPr>
              <a:t>▸ Their masking + “judge_code” reveal flow provides no real protection: the API response already contains the fully-decrypted value regardless of the code — masking was frontend theater on top of an already-unmasked response.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b="1" sz="1450">
                <a:solidFill>
                  <a:srgbClr val="0EA5E9"/>
                </a:solidFill>
                <a:latin typeface="Calibri"/>
              </a:rPr>
              <a:t>▸ Adopted: </a:t>
            </a:r>
            <a:r>
              <a:rPr sz="1450">
                <a:solidFill>
                  <a:srgbClr val="111827"/>
                </a:solidFill>
                <a:latin typeface="Calibri"/>
              </a:rPr>
              <a:t>Entity-scoping (multi-turn UX), a bank-code mapping table, and aggregate-correctness rules (COALESCE, SUM vs. COUNT) were genuinely valuable additions from the teammate's branch — adopted, adapted to this branch's typed-column design, and re-verified live.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b="1" sz="1450">
                <a:solidFill>
                  <a:srgbClr val="0EA5E9"/>
                </a:solidFill>
                <a:latin typeface="Calibri"/>
              </a:rPr>
              <a:t>▸ Bonus find: </a:t>
            </a:r>
            <a:r>
              <a:rPr sz="1450">
                <a:solidFill>
                  <a:srgbClr val="111827"/>
                </a:solidFill>
                <a:latin typeface="Calibri"/>
              </a:rPr>
              <a:t>A pre-existing bug affecting BOTH branches was found and fixed along the way: frontend/lib/types.ts had never existed in git (an overly broad .gitignore pattern) — neither branch's frontend could build from a fresh clone until this merge.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6539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TBX Finance Assistant — BVP Tech Catalyst Hackathon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6539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38BDF8"/>
                </a:solidFill>
                <a:latin typeface="Calibri"/>
              </a:rPr>
              <a:t>DEMO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1155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What We'll Show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32688"/>
            <a:ext cx="1188720" cy="381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325880"/>
            <a:ext cx="411480" cy="50292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411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i="0">
                <a:solidFill>
                  <a:srgbClr val="0F172A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307592"/>
            <a:ext cx="28346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  <a:latin typeface="Calibri"/>
              </a:rPr>
              <a:t>Simple lookup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1307592"/>
            <a:ext cx="749807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111827"/>
                </a:solidFill>
                <a:latin typeface="Calibri"/>
              </a:rPr>
              <a:t>“Which accounts have negative balances?” — grounded answer, SQL shown, confidence high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947672"/>
            <a:ext cx="411480" cy="50292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993392"/>
            <a:ext cx="411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i="0">
                <a:solidFill>
                  <a:srgbClr val="0F172A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1929384"/>
            <a:ext cx="28346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  <a:latin typeface="Calibri"/>
              </a:rPr>
              <a:t>Encrypted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1929384"/>
            <a:ext cx="749807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111827"/>
                </a:solidFill>
                <a:latin typeface="Calibri"/>
              </a:rPr>
              <a:t>“Show account number and bank name for negative-balance accounts” — decrypted plaintext, never ciphertext, never masked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569464"/>
            <a:ext cx="411480" cy="50292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615184"/>
            <a:ext cx="411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i="0">
                <a:solidFill>
                  <a:srgbClr val="0F172A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2551176"/>
            <a:ext cx="28346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  <a:latin typeface="Calibri"/>
              </a:rPr>
              <a:t>Multi-turn / entity lock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2551176"/>
            <a:ext cx="749807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111827"/>
                </a:solidFill>
                <a:latin typeface="Calibri"/>
              </a:rPr>
              <a:t>Lock to one entity_id, ask “what's my total balance?” — no re-specifying who “my” is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191256"/>
            <a:ext cx="411480" cy="50292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236976"/>
            <a:ext cx="411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i="0">
                <a:solidFill>
                  <a:srgbClr val="0F172A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3172968"/>
            <a:ext cx="28346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  <a:latin typeface="Calibri"/>
              </a:rPr>
              <a:t>Complex analytical query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0" y="3172968"/>
            <a:ext cx="749807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111827"/>
                </a:solidFill>
                <a:latin typeface="Calibri"/>
              </a:rPr>
              <a:t>“Top account per bank by balance” — ROW_NUMBER()-based correct pairing, not a MAX()-mismatch bug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813048"/>
            <a:ext cx="411480" cy="50292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3858768"/>
            <a:ext cx="411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i="0">
                <a:solidFill>
                  <a:srgbClr val="0F172A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3794760"/>
            <a:ext cx="28346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  <a:latin typeface="Calibri"/>
              </a:rPr>
              <a:t>Self-repair in action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0" y="3794760"/>
            <a:ext cx="749807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111827"/>
                </a:solidFill>
                <a:latin typeface="Calibri"/>
              </a:rPr>
              <a:t>A deliberately awkward phrasing that trips first-shot SQL — watch the repair loop fix it using the real DB error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4434840"/>
            <a:ext cx="411480" cy="50292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4480560"/>
            <a:ext cx="411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i="0">
                <a:solidFill>
                  <a:srgbClr val="0F172A"/>
                </a:solidFill>
                <a:latin typeface="Calibri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" y="4416552"/>
            <a:ext cx="28346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  <a:latin typeface="Calibri"/>
              </a:rPr>
              <a:t>Anomaly + confidence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0" y="4416552"/>
            <a:ext cx="749807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111827"/>
                </a:solidFill>
                <a:latin typeface="Calibri"/>
              </a:rPr>
              <a:t>A high-value transaction question — anomaly flagged inline, confidence band explained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5056632"/>
            <a:ext cx="411480" cy="50292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5102352"/>
            <a:ext cx="411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i="0">
                <a:solidFill>
                  <a:srgbClr val="0F172A"/>
                </a:solidFill>
                <a:latin typeface="Calibri"/>
              </a:rPr>
              <a:t>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" y="5038344"/>
            <a:ext cx="28346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  <a:latin typeface="Calibri"/>
              </a:rPr>
              <a:t>Safety guard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800" y="5038344"/>
            <a:ext cx="749807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111827"/>
                </a:solidFill>
                <a:latin typeface="Calibri"/>
              </a:rPr>
              <a:t>The pathological OR-join query — rejected instantly by the static guard, with a clear message, not a hang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656539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TBX Finance Assistant — BVP Tech Catalyst Hackathon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247120" y="656539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38BDF8"/>
                </a:solidFill>
                <a:latin typeface="Calibri"/>
              </a:rPr>
              <a:t>WHAT'S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1155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Pending &amp; Honest Limitations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32688"/>
            <a:ext cx="1188720" cy="381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2000"/>
              </a:spcAft>
            </a:pPr>
            <a:r>
              <a:rPr b="1" sz="1600">
                <a:solidFill>
                  <a:srgbClr val="0EA5E9"/>
                </a:solidFill>
                <a:latin typeface="Calibri"/>
              </a:rPr>
              <a:t>▸ Real key for the real MySQL DB: </a:t>
            </a:r>
            <a:r>
              <a:rPr sz="1600">
                <a:solidFill>
                  <a:srgbClr val="111827"/>
                </a:solidFill>
                <a:latin typeface="Calibri"/>
              </a:rPr>
              <a:t>The judge's actual key/scheme is unknown until hackathon day — the app fails safe (returns the value unchanged) rather than silently wrong if it doesn't match.</a:t>
            </a:r>
          </a:p>
          <a:p>
            <a:pPr>
              <a:lnSpc>
                <a:spcPct val="105000"/>
              </a:lnSpc>
              <a:spcAft>
                <a:spcPts val="2000"/>
              </a:spcAft>
            </a:pPr>
            <a:r>
              <a:rPr b="1" sz="1600">
                <a:solidFill>
                  <a:srgbClr val="0EA5E9"/>
                </a:solidFill>
                <a:latin typeface="Calibri"/>
              </a:rPr>
              <a:t>▸ Analytical SQL ceiling: </a:t>
            </a:r>
            <a:r>
              <a:rPr sz="1600">
                <a:solidFill>
                  <a:srgbClr val="111827"/>
                </a:solidFill>
                <a:latin typeface="Calibri"/>
              </a:rPr>
              <a:t>Complex, genuinely multi-step analytical SQL (deep window functions, multi-way disambiguation) is still where a 1.5B model needs the most help — worth continued few-shot tuning, not claimed as solved.</a:t>
            </a:r>
          </a:p>
          <a:p>
            <a:pPr>
              <a:lnSpc>
                <a:spcPct val="105000"/>
              </a:lnSpc>
              <a:spcAft>
                <a:spcPts val="2000"/>
              </a:spcAft>
            </a:pPr>
            <a:r>
              <a:rPr b="1" sz="1600">
                <a:solidFill>
                  <a:srgbClr val="0EA5E9"/>
                </a:solidFill>
                <a:latin typeface="Calibri"/>
              </a:rPr>
              <a:t>▸ Known scoring ambiguity: </a:t>
            </a:r>
            <a:r>
              <a:rPr sz="1600">
                <a:solidFill>
                  <a:srgbClr val="111827"/>
                </a:solidFill>
                <a:latin typeface="Calibri"/>
              </a:rPr>
              <a:t>One benchmark question (duplicate reference ID OR UTR) has a genuinely ambiguous reference answer — flagged honestly rather than overfitting the prompt to one narrow reading.</a:t>
            </a:r>
          </a:p>
          <a:p>
            <a:pPr>
              <a:lnSpc>
                <a:spcPct val="105000"/>
              </a:lnSpc>
              <a:spcAft>
                <a:spcPts val="2000"/>
              </a:spcAft>
            </a:pPr>
            <a:r>
              <a:rPr b="1" sz="1600">
                <a:solidFill>
                  <a:srgbClr val="0EA5E9"/>
                </a:solidFill>
                <a:latin typeface="Calibri"/>
              </a:rPr>
              <a:t>▸ Anomaly detection re-verification: </a:t>
            </a:r>
            <a:r>
              <a:rPr sz="1600">
                <a:solidFill>
                  <a:srgbClr val="111827"/>
                </a:solidFill>
                <a:latin typeface="Calibri"/>
              </a:rPr>
              <a:t>Anomaly detection (Z-score + business rules + Isolation Forest) is implemented but not yet re-verified against the newer typed-column schema.</a:t>
            </a:r>
          </a:p>
          <a:p>
            <a:pPr>
              <a:lnSpc>
                <a:spcPct val="105000"/>
              </a:lnSpc>
              <a:spcAft>
                <a:spcPts val="2000"/>
              </a:spcAft>
            </a:pPr>
            <a:r>
              <a:rPr b="1" sz="1600">
                <a:solidFill>
                  <a:srgbClr val="0EA5E9"/>
                </a:solidFill>
                <a:latin typeface="Calibri"/>
              </a:rPr>
              <a:t>▸ Production indexing: </a:t>
            </a:r>
            <a:r>
              <a:rPr sz="1600">
                <a:solidFill>
                  <a:srgbClr val="111827"/>
                </a:solidFill>
                <a:latin typeface="Calibri"/>
              </a:rPr>
              <a:t>Indexes on the live judge schema (transaction.account_id/date/reference_id, account.bank_code) should be added once real access exists.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6539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TBX Finance Assistant — BVP Tech Catalyst Hackathon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6539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Calibr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108960"/>
            <a:ext cx="12191695" cy="381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327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Grounded. Measured. Honest.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91840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i="1">
                <a:solidFill>
                  <a:srgbClr val="38BDF8"/>
                </a:solidFill>
                <a:latin typeface="Calibri"/>
              </a:rPr>
              <a:t>Accuracy engineered through the data layer and execution feedback — not raw model scale.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035040"/>
            <a:ext cx="10332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6B7280"/>
                </a:solidFill>
                <a:latin typeface="Calibri"/>
              </a:rPr>
              <a:t>TBX Finance Assistant — BVP Tech Catalyst Hackathon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